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PawPal+ is an agentic pet care management system — built around two distinct AI personas, a self-correcting reasoning loop, and role-native tool architectures. Let me walk you through how it works and what we learned building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foundational design decision: a pet owner and a vet admin should never share the same agent. One needs warmth and guidance; the other needs operational precision. A single agent serving both produces an experience that works for neither.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login, the Role Router selects the right agent — PawPal Companion for owners, PawPal Manager for admins. Each has its own persona, its own tool set, and its own tone. Both feed into the same agentic reasoning loop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system running. The owner side is conversational and warm. The admin side is precise and operational. Same core architecture — completely different agent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where reliability comes from. The agent plans before it acts. It executes tools for up to 8 iterations. Then a separate, independent verification pass scores confidence. If the score falls below 0.7, the failure context is fed back in and it retries. Across 10 evaluation scenarios, we hit 0.91 mean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insights from building this. First: how you structure tool return values changes what the model tells users — that's architecture. Second: persona drives behavior more reliably than permission filtering. Third: self-evaluation doesn't work — independent verification is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PawPal+ is built around one core insight: agentic systems fail when the architecture ignores how models interpret tools, instructions, and identity. Every design decision in this system is a direct response to that. 73 tests passing. 22 tools. 0.91 confidence.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0" y="2689473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2903" y="3718173"/>
            <a:ext cx="4422119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0" b="1" spc="-34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PawPal</a:t>
            </a:r>
            <a:pPr algn="ctr" indent="0" marL="0">
              <a:lnSpc>
                <a:spcPct val="100000"/>
              </a:lnSpc>
              <a:buNone/>
            </a:pPr>
            <a:r>
              <a:rPr lang="en-US" sz="8700" b="1" spc="-348" kern="0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8700" dirty="0"/>
          </a:p>
        </p:txBody>
      </p:sp>
      <p:sp>
        <p:nvSpPr>
          <p:cNvPr id="4" name="Text 1"/>
          <p:cNvSpPr/>
          <p:nvPr/>
        </p:nvSpPr>
        <p:spPr>
          <a:xfrm>
            <a:off x="4962782" y="5165973"/>
            <a:ext cx="8362361" cy="16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8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agentic pet care management system with </a:t>
            </a:r>
            <a:pPr algn="ctr" indent="0" marL="0">
              <a:lnSpc>
                <a:spcPct val="145000"/>
              </a:lnSpc>
              <a:buNone/>
            </a:pPr>
            <a:r>
              <a:rPr lang="en-US" sz="285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dual AI personas, a self-correcting reasoning loop, and role-native tool architectures.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5102423" y="7159377"/>
            <a:ext cx="2938537" cy="514350"/>
          </a:xfrm>
          <a:prstGeom prst="roundRect">
            <a:avLst>
              <a:gd name="adj" fmla="val 50000"/>
            </a:avLst>
          </a:prstGeom>
          <a:solidFill>
            <a:srgbClr val="22C55E">
              <a:alpha val="14000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548" y="7321302"/>
            <a:ext cx="190500" cy="190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26298" y="7283202"/>
            <a:ext cx="22527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73 / 73 Tests Passing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231460" y="7159377"/>
            <a:ext cx="2019077" cy="514350"/>
          </a:xfrm>
          <a:prstGeom prst="roundRect">
            <a:avLst>
              <a:gd name="adj" fmla="val 50000"/>
            </a:avLst>
          </a:prstGeom>
          <a:solidFill>
            <a:srgbClr val="E07B39">
              <a:alpha val="15000"/>
            </a:srgbClr>
          </a:solidFill>
          <a:ln w="9525">
            <a:solidFill>
              <a:srgbClr val="E07B39">
                <a:alpha val="5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31485" y="7283202"/>
            <a:ext cx="16190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 Agent Tools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0441037" y="7159377"/>
            <a:ext cx="2744539" cy="51435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9525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637994" y="7283202"/>
            <a:ext cx="23506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Distinct AI Personas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2149450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3025" y="847725"/>
            <a:ext cx="1825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App. Two Very Different Users.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487885"/>
            <a:ext cx="7829550" cy="5956027"/>
          </a:xfrm>
          <a:prstGeom prst="roundRect">
            <a:avLst>
              <a:gd name="adj" fmla="val 1919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8434388"/>
            <a:ext cx="78295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487885"/>
            <a:ext cx="78295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487885"/>
            <a:ext cx="38100" cy="5956027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9" name="Shape 7"/>
          <p:cNvSpPr/>
          <p:nvPr/>
        </p:nvSpPr>
        <p:spPr>
          <a:xfrm>
            <a:off x="8963025" y="2487885"/>
            <a:ext cx="9525" cy="595602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878410"/>
            <a:ext cx="715203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🐾 Pet Owner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600200" y="3583260"/>
            <a:ext cx="7152037" cy="3803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Needs wellness guidance, health tips, and routine suggestions. Wants a caring companion — not a scheduler.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600200" y="7577138"/>
            <a:ext cx="1472505" cy="476250"/>
          </a:xfrm>
          <a:prstGeom prst="roundRect">
            <a:avLst>
              <a:gd name="adj" fmla="val 50000"/>
            </a:avLst>
          </a:prstGeom>
          <a:solidFill>
            <a:srgbClr val="E07B39">
              <a:alpha val="15000"/>
            </a:srgbClr>
          </a:solidFill>
          <a:ln w="9525">
            <a:solidFill>
              <a:srgbClr val="E07B3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0225" y="7681913"/>
            <a:ext cx="1148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Read-only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87005" y="7577138"/>
            <a:ext cx="1964308" cy="476250"/>
          </a:xfrm>
          <a:prstGeom prst="roundRect">
            <a:avLst>
              <a:gd name="adj" fmla="val 50000"/>
            </a:avLst>
          </a:prstGeom>
          <a:solidFill>
            <a:srgbClr val="E07B39">
              <a:alpha val="15000"/>
            </a:srgbClr>
          </a:solidFill>
          <a:ln w="9525">
            <a:solidFill>
              <a:srgbClr val="E07B3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7030" y="7681913"/>
            <a:ext cx="16404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Conversational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65613" y="7577138"/>
            <a:ext cx="1008459" cy="476250"/>
          </a:xfrm>
          <a:prstGeom prst="roundRect">
            <a:avLst>
              <a:gd name="adj" fmla="val 50000"/>
            </a:avLst>
          </a:prstGeom>
          <a:solidFill>
            <a:srgbClr val="E07B39">
              <a:alpha val="15000"/>
            </a:srgbClr>
          </a:solidFill>
          <a:ln w="9525">
            <a:solidFill>
              <a:srgbClr val="E07B39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5638" y="7681913"/>
            <a:ext cx="6846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Warm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15450" y="2487885"/>
            <a:ext cx="7829550" cy="5956027"/>
          </a:xfrm>
          <a:prstGeom prst="roundRect">
            <a:avLst>
              <a:gd name="adj" fmla="val 1919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315450" y="8434388"/>
            <a:ext cx="78295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315450" y="2487885"/>
            <a:ext cx="78295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315450" y="2487885"/>
            <a:ext cx="38100" cy="595602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17135475" y="2487885"/>
            <a:ext cx="9525" cy="595602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72650" y="2878410"/>
            <a:ext cx="715203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Admin / Vet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9772650" y="3583260"/>
            <a:ext cx="7152037" cy="3803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Needs full CRUD control, conflict detection, appointment management, and operational reports. Wants power tools, not hand-holding.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772650" y="7577138"/>
            <a:ext cx="1450404" cy="47625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9525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72675" y="7681913"/>
            <a:ext cx="11265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Full CRUD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337354" y="7577138"/>
            <a:ext cx="1614488" cy="47625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9525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37379" y="7681913"/>
            <a:ext cx="12906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Operational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066142" y="7577138"/>
            <a:ext cx="1167854" cy="476250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9525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66167" y="7681913"/>
            <a:ext cx="844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Precise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3000" y="8748713"/>
            <a:ext cx="16002000" cy="852488"/>
          </a:xfrm>
          <a:prstGeom prst="roundRect">
            <a:avLst>
              <a:gd name="adj" fmla="val 13408"/>
            </a:avLst>
          </a:prstGeom>
          <a:solidFill>
            <a:srgbClr val="E07B39">
              <a:alpha val="8000"/>
            </a:srgbClr>
          </a:solidFill>
          <a:ln w="9525">
            <a:solidFill>
              <a:srgbClr val="E07B39">
                <a:alpha val="2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3495" y="9005888"/>
            <a:ext cx="157010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i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"Serving both with the same agent produces an identity crisis — and a worse product for everyone."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2320826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3025" y="847725"/>
            <a:ext cx="19969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It Works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15110" y="2297385"/>
            <a:ext cx="4963195" cy="1133475"/>
          </a:xfrm>
          <a:prstGeom prst="roundRect">
            <a:avLst>
              <a:gd name="adj" fmla="val 1008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0698" y="2535510"/>
            <a:ext cx="24520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Login + Role Select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59524" y="2926035"/>
            <a:ext cx="3074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 chooses Owner or 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68804" y="2683148"/>
            <a:ext cx="35614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39250" y="2297385"/>
            <a:ext cx="4963195" cy="1133475"/>
          </a:xfrm>
          <a:prstGeom prst="roundRect">
            <a:avLst>
              <a:gd name="adj" fmla="val 1008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62010" y="2535510"/>
            <a:ext cx="15176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Role Router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14471" y="2926035"/>
            <a:ext cx="26127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Selects persona + tool 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98358" y="3526110"/>
            <a:ext cx="283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↙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382324" y="3526110"/>
            <a:ext cx="2834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3935685"/>
            <a:ext cx="6843936" cy="1143000"/>
          </a:xfrm>
          <a:prstGeom prst="roundRect">
            <a:avLst>
              <a:gd name="adj" fmla="val 10000"/>
            </a:avLst>
          </a:prstGeom>
          <a:solidFill>
            <a:srgbClr val="E07B39">
              <a:alpha val="8000"/>
            </a:srgbClr>
          </a:solidFill>
          <a:ln w="9525">
            <a:solidFill>
              <a:srgbClr val="E07B3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8638" y="4173810"/>
            <a:ext cx="25925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🐾 PawPal Companion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860235" y="4573860"/>
            <a:ext cx="34094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read-only tools · Owner persona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301064" y="3935685"/>
            <a:ext cx="6843936" cy="1143000"/>
          </a:xfrm>
          <a:prstGeom prst="roundRect">
            <a:avLst>
              <a:gd name="adj" fmla="val 10000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81037" y="4173810"/>
            <a:ext cx="22839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PawPal Manager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507374" y="4573860"/>
            <a:ext cx="44313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 tools (CRUD + advisory) · Admin persona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98358" y="5173935"/>
            <a:ext cx="2834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↘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382101" y="5173935"/>
            <a:ext cx="283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↙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615110" y="5583510"/>
            <a:ext cx="4963195" cy="1109663"/>
          </a:xfrm>
          <a:prstGeom prst="roundRect">
            <a:avLst>
              <a:gd name="adj" fmla="val 103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4914" y="5821635"/>
            <a:ext cx="35035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Plan → Act → Verify → Replan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933504" y="6188348"/>
            <a:ext cx="23263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Agentic reasoning loop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68804" y="5957367"/>
            <a:ext cx="35614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239250" y="5583510"/>
            <a:ext cx="4963195" cy="1109663"/>
          </a:xfrm>
          <a:prstGeom prst="roundRect">
            <a:avLst>
              <a:gd name="adj" fmla="val 10300"/>
            </a:avLst>
          </a:prstGeom>
          <a:solidFill>
            <a:srgbClr val="64748B">
              <a:alpha val="12000"/>
            </a:srgbClr>
          </a:solidFill>
          <a:ln w="9525">
            <a:solidFill>
              <a:srgbClr val="64748B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89719" y="5821635"/>
            <a:ext cx="306225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JSON / Supabase Storage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925696" y="6188348"/>
            <a:ext cx="15902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Persistent state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1748210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3025" y="847725"/>
            <a:ext cx="142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See It In Action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2487885"/>
            <a:ext cx="80644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🐾 Pet Owner — PawPal Companion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2926035"/>
            <a:ext cx="7829550" cy="5284515"/>
          </a:xfrm>
          <a:prstGeom prst="roundRect">
            <a:avLst>
              <a:gd name="adj" fmla="val 2163"/>
            </a:avLst>
          </a:prstGeom>
          <a:solidFill>
            <a:srgbClr val="E07B39">
              <a:alpha val="20000"/>
            </a:srgbClr>
          </a:solidFill>
          <a:ln w="19050">
            <a:solidFill>
              <a:srgbClr val="E07B39">
                <a:alpha val="35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597101" y="5220593"/>
            <a:ext cx="30089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>
                    <a:alpha val="2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[ screenshot: Owner UI ]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90913" y="5649218"/>
            <a:ext cx="20098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1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Warm amber theme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15450" y="2487885"/>
            <a:ext cx="80644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Admin / Vet — PawPal Manager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15450" y="2926035"/>
            <a:ext cx="7829550" cy="5284515"/>
          </a:xfrm>
          <a:prstGeom prst="roundRect">
            <a:avLst>
              <a:gd name="adj" fmla="val 2163"/>
            </a:avLst>
          </a:prstGeom>
          <a:solidFill>
            <a:srgbClr val="2563EB">
              <a:alpha val="20000"/>
            </a:srgbClr>
          </a:solidFill>
          <a:ln w="19050">
            <a:solidFill>
              <a:srgbClr val="2563EB">
                <a:alpha val="35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1780937" y="5220593"/>
            <a:ext cx="29854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>
                    <a:alpha val="2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[ screenshot: Admin UI ]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404303" y="5649218"/>
            <a:ext cx="17279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1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Cool navy theme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8515350"/>
            <a:ext cx="7934325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3025" y="8620125"/>
            <a:ext cx="7772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Dual-role login with instant theme switch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10675" y="8515350"/>
            <a:ext cx="7934325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0700" y="8620125"/>
            <a:ext cx="7772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 health triage + care summaries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9124950"/>
            <a:ext cx="7934325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3025" y="9229725"/>
            <a:ext cx="7772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Week calendar with recurring task projection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10675" y="9124950"/>
            <a:ext cx="7934325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0700" y="9229725"/>
            <a:ext cx="7772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In-app modal dialogs for pet CRUD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2633737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3025" y="847725"/>
            <a:ext cx="23126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UNDER THE HOOD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Agentic Loop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487885"/>
            <a:ext cx="3427437" cy="5036865"/>
          </a:xfrm>
          <a:prstGeom prst="roundRect">
            <a:avLst>
              <a:gd name="adj" fmla="val 333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7515225"/>
            <a:ext cx="342743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487885"/>
            <a:ext cx="3427437" cy="28575"/>
          </a:xfrm>
          <a:prstGeom prst="rect">
            <a:avLst/>
          </a:prstGeom>
          <a:solidFill>
            <a:srgbClr val="FCA469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60912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2859360"/>
            <a:ext cx="28827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457325" y="3392760"/>
            <a:ext cx="28827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57325" y="3888060"/>
            <a:ext cx="2882751" cy="216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Before calling any tool, the agent writes an explicit plan block. Every action has declared intent — making the loop auditable and debuggable.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60937" y="4758630"/>
            <a:ext cx="45928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5334521" y="2487885"/>
            <a:ext cx="3427437" cy="5036865"/>
          </a:xfrm>
          <a:prstGeom prst="roundRect">
            <a:avLst>
              <a:gd name="adj" fmla="val 333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34521" y="7515225"/>
            <a:ext cx="342743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34521" y="2487885"/>
            <a:ext cx="3427437" cy="285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334521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752433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648846" y="2859360"/>
            <a:ext cx="28827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5648846" y="3392760"/>
            <a:ext cx="28827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648846" y="3888060"/>
            <a:ext cx="2882751" cy="180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Tool-use executes in a tight loop — up to 8 iterations and 20 tool calls per turn — adapting its approach with every intermediate result.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52458" y="4758630"/>
            <a:ext cx="45928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9526042" y="2487885"/>
            <a:ext cx="3427437" cy="5036865"/>
          </a:xfrm>
          <a:prstGeom prst="roundRect">
            <a:avLst>
              <a:gd name="adj" fmla="val 333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526042" y="7515225"/>
            <a:ext cx="342743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526042" y="2487885"/>
            <a:ext cx="3427437" cy="2857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Shape 24"/>
          <p:cNvSpPr/>
          <p:nvPr/>
        </p:nvSpPr>
        <p:spPr>
          <a:xfrm>
            <a:off x="9526042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943954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840367" y="2859360"/>
            <a:ext cx="28827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9840367" y="3392760"/>
            <a:ext cx="28827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Verify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840367" y="3888060"/>
            <a:ext cx="2882751" cy="216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separate, independent scoring call grades the response 0.0–1.0. No self-evaluation. The bar is objective and runs on every response.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143979" y="4758630"/>
            <a:ext cx="45928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3300" dirty="0"/>
          </a:p>
        </p:txBody>
      </p:sp>
      <p:sp>
        <p:nvSpPr>
          <p:cNvPr id="32" name="Shape 30"/>
          <p:cNvSpPr/>
          <p:nvPr/>
        </p:nvSpPr>
        <p:spPr>
          <a:xfrm>
            <a:off x="13717563" y="2487885"/>
            <a:ext cx="3427437" cy="5036865"/>
          </a:xfrm>
          <a:prstGeom prst="roundRect">
            <a:avLst>
              <a:gd name="adj" fmla="val 333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717563" y="7515225"/>
            <a:ext cx="342743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3717563" y="2487885"/>
            <a:ext cx="3427437" cy="28575"/>
          </a:xfrm>
          <a:prstGeom prst="rect">
            <a:avLst/>
          </a:prstGeom>
          <a:solidFill>
            <a:srgbClr val="7EB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3717563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7135475" y="2487885"/>
            <a:ext cx="9525" cy="50368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4031888" y="2859360"/>
            <a:ext cx="28827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🔄</a:t>
            </a:r>
            <a:endParaRPr lang="en-US" sz="3150" dirty="0"/>
          </a:p>
        </p:txBody>
      </p:sp>
      <p:sp>
        <p:nvSpPr>
          <p:cNvPr id="38" name="Text 36"/>
          <p:cNvSpPr/>
          <p:nvPr/>
        </p:nvSpPr>
        <p:spPr>
          <a:xfrm>
            <a:off x="14031888" y="3392760"/>
            <a:ext cx="28827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Replan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4031888" y="3888060"/>
            <a:ext cx="2882751" cy="180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If confidence &lt; 0.7, the failure context is fed back in and the agent retries from a smarter starting point. Up to 3 total attempts.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43000" y="7867650"/>
            <a:ext cx="16002000" cy="1733550"/>
          </a:xfrm>
          <a:prstGeom prst="roundRect">
            <a:avLst>
              <a:gd name="adj" fmla="val 659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41119" y="7877175"/>
            <a:ext cx="9525" cy="17145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445883" y="8143875"/>
            <a:ext cx="34018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</a:t>
            </a:r>
            <a:endParaRPr lang="en-US" sz="4500" dirty="0"/>
          </a:p>
        </p:txBody>
      </p:sp>
      <p:sp>
        <p:nvSpPr>
          <p:cNvPr id="43" name="Text 41"/>
          <p:cNvSpPr/>
          <p:nvPr/>
        </p:nvSpPr>
        <p:spPr>
          <a:xfrm>
            <a:off x="1445883" y="8791575"/>
            <a:ext cx="34018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 iterations per run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139238" y="7877175"/>
            <a:ext cx="9525" cy="17145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44002" y="8143875"/>
            <a:ext cx="34018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</a:t>
            </a:r>
            <a:endParaRPr lang="en-US" sz="4500" dirty="0"/>
          </a:p>
        </p:txBody>
      </p:sp>
      <p:sp>
        <p:nvSpPr>
          <p:cNvPr id="46" name="Text 44"/>
          <p:cNvSpPr/>
          <p:nvPr/>
        </p:nvSpPr>
        <p:spPr>
          <a:xfrm>
            <a:off x="5444002" y="8791575"/>
            <a:ext cx="34018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 tool calls per turn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3137356" y="7877175"/>
            <a:ext cx="9525" cy="17145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442121" y="8143875"/>
            <a:ext cx="34018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4ADE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0.91</a:t>
            </a:r>
            <a:endParaRPr lang="en-US" sz="4500" dirty="0"/>
          </a:p>
        </p:txBody>
      </p:sp>
      <p:sp>
        <p:nvSpPr>
          <p:cNvPr id="49" name="Text 47"/>
          <p:cNvSpPr/>
          <p:nvPr/>
        </p:nvSpPr>
        <p:spPr>
          <a:xfrm>
            <a:off x="9442121" y="8791575"/>
            <a:ext cx="34018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mean confidence · 10/10 eval scenarios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440239" y="8143875"/>
            <a:ext cx="34018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0.7</a:t>
            </a:r>
            <a:endParaRPr lang="en-US" sz="4500" dirty="0"/>
          </a:p>
        </p:txBody>
      </p:sp>
      <p:sp>
        <p:nvSpPr>
          <p:cNvPr id="51" name="Text 49"/>
          <p:cNvSpPr/>
          <p:nvPr/>
        </p:nvSpPr>
        <p:spPr>
          <a:xfrm>
            <a:off x="13440239" y="8791575"/>
            <a:ext cx="34018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replan confidence threshold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2598167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3025" y="847725"/>
            <a:ext cx="2276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DESIGN INSIGHTS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Hard-Won Lessons from Building Agentic Systems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487885"/>
            <a:ext cx="5156150" cy="7113315"/>
          </a:xfrm>
          <a:prstGeom prst="roundRect">
            <a:avLst>
              <a:gd name="adj" fmla="val 221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9591675"/>
            <a:ext cx="51561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487885"/>
            <a:ext cx="5156150" cy="28575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487885"/>
            <a:ext cx="9525" cy="711331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89625" y="2487885"/>
            <a:ext cx="9525" cy="711331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33525" y="2935560"/>
            <a:ext cx="45063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33525" y="3564210"/>
            <a:ext cx="450635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 return values shape model behavior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33525" y="4478610"/>
            <a:ext cx="4506353" cy="2237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Returning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highlight>
                  <a:srgbClr val="FFFFFF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success:false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 a confirmation gate caused the agent to tell users it "lacked the capability." The model misread a design pattern as a tool failure. The fix: conversational confirmation, never tool flags.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65850" y="2487885"/>
            <a:ext cx="5156225" cy="7113315"/>
          </a:xfrm>
          <a:prstGeom prst="roundRect">
            <a:avLst>
              <a:gd name="adj" fmla="val 221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65850" y="9591675"/>
            <a:ext cx="515622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65850" y="2487885"/>
            <a:ext cx="5156225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565850" y="2487885"/>
            <a:ext cx="9525" cy="711331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2550" y="2487885"/>
            <a:ext cx="9525" cy="711331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56375" y="2935560"/>
            <a:ext cx="45064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7EB3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56375" y="3564210"/>
            <a:ext cx="45064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Persona drives behavior more than permissions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956375" y="4478610"/>
            <a:ext cx="4506430" cy="223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Giving each agent a clear, grounded identity — wellness companion vs. operations manager — produced better, more consistent responses than filtering the tool list alone. The </a:t>
            </a:r>
            <a:pPr algn="l" indent="0" marL="0">
              <a:lnSpc>
                <a:spcPct val="160000"/>
              </a:lnSpc>
              <a:buNone/>
            </a:pPr>
            <a:r>
              <a:rPr lang="en-US" sz="1800" i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who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matters more than the </a:t>
            </a:r>
            <a:pPr algn="l" indent="0" marL="0">
              <a:lnSpc>
                <a:spcPct val="160000"/>
              </a:lnSpc>
              <a:buNone/>
            </a:pPr>
            <a:r>
              <a:rPr lang="en-US" sz="1800" i="1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988775" y="2487885"/>
            <a:ext cx="5156225" cy="7113315"/>
          </a:xfrm>
          <a:prstGeom prst="roundRect">
            <a:avLst>
              <a:gd name="adj" fmla="val 221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988775" y="9591675"/>
            <a:ext cx="5156225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988775" y="2487885"/>
            <a:ext cx="5156225" cy="2857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988775" y="2487885"/>
            <a:ext cx="9525" cy="711331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135475" y="2487885"/>
            <a:ext cx="9525" cy="711331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379300" y="2935560"/>
            <a:ext cx="45064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4ADE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2379300" y="3564210"/>
            <a:ext cx="45064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Independent verification is non-negotiable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2379300" y="4478610"/>
            <a:ext cx="4506430" cy="186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Self-evaluation is unreliable. A separate scoring call with its own context catches the edge cases the planner misses — validated across 10 eval scenarios with a 0.91 mean confidence score.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1733476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3025" y="847725"/>
            <a:ext cx="14096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TAKEAWAY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Building agents that actually work.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4221510"/>
            <a:ext cx="10423550" cy="3093541"/>
          </a:xfrm>
          <a:prstGeom prst="rect">
            <a:avLst/>
          </a:prstGeom>
          <a:solidFill>
            <a:srgbClr val="E07B39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221510"/>
            <a:ext cx="38100" cy="3093541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4602510"/>
            <a:ext cx="9676695" cy="2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700" i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"Agentic systems don't fail because the model is bad — they fail because the architecture doesn't account for how models interpret instructions, tools, and identity. </a:t>
            </a:r>
            <a:pPr algn="l" indent="0" marL="0">
              <a:lnSpc>
                <a:spcPct val="170000"/>
              </a:lnSpc>
              <a:buNone/>
            </a:pPr>
            <a:r>
              <a:rPr lang="en-US" sz="2700" b="1" dirty="0">
                <a:solidFill>
                  <a:srgbClr val="E07B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PawPal+ is designed around that insight from the ground up.</a:t>
            </a:r>
            <a:pPr algn="l" indent="0" marL="0">
              <a:lnSpc>
                <a:spcPct val="170000"/>
              </a:lnSpc>
              <a:buNone/>
            </a:pPr>
            <a:r>
              <a:rPr lang="en-US" sz="2700" i="1" dirty="0">
                <a:solidFill>
                  <a:srgbClr val="F1F5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143000" y="9048750"/>
            <a:ext cx="3014737" cy="552450"/>
          </a:xfrm>
          <a:prstGeom prst="roundRect">
            <a:avLst>
              <a:gd name="adj" fmla="val 50000"/>
            </a:avLst>
          </a:prstGeom>
          <a:solidFill>
            <a:srgbClr val="22C55E">
              <a:alpha val="14000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9229725"/>
            <a:ext cx="190500" cy="190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4975" y="9191625"/>
            <a:ext cx="22527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73 / 73 Tests Passing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48237" y="9048750"/>
            <a:ext cx="4034210" cy="5524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4462" y="9191625"/>
            <a:ext cx="36027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 Agent Tools across 2 Personas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72946" y="9048750"/>
            <a:ext cx="3616896" cy="5524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49171" y="9191625"/>
            <a:ext cx="31729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Plan → Act → Verify → Replan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380342" y="9048750"/>
            <a:ext cx="3363292" cy="552450"/>
          </a:xfrm>
          <a:prstGeom prst="roundRect">
            <a:avLst>
              <a:gd name="adj" fmla="val 50000"/>
            </a:avLst>
          </a:prstGeom>
          <a:solidFill>
            <a:srgbClr val="E07B39">
              <a:alpha val="15000"/>
            </a:srgbClr>
          </a:solidFill>
          <a:ln w="9525">
            <a:solidFill>
              <a:srgbClr val="E07B39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656567" y="9191625"/>
            <a:ext cx="2911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4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0.91 Mean Eval Confidence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2026-04-27T04:22:39Z</dcterms:created>
  <dcterms:modified xsi:type="dcterms:W3CDTF">2026-04-27T04:22:39Z</dcterms:modified>
</cp:coreProperties>
</file>